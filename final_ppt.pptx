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D10672D-0543-416B-9CC0-482E785C2AB1}">
          <p14:sldIdLst>
            <p14:sldId id="256"/>
          </p14:sldIdLst>
        </p14:section>
        <p14:section name="Untitled Section" id="{10A33FD2-CED5-4A00-8D3A-2F3E8CF262D3}">
          <p14:sldIdLst>
            <p14:sldId id="257"/>
          </p14:sldIdLst>
        </p14:section>
        <p14:section name="Untitled Section" id="{376D6FC1-9064-4612-8F2B-E60DC05C24E1}">
          <p14:sldIdLst/>
        </p14:section>
        <p14:section name="Untitled Section" id="{600CD807-8263-4138-98BB-9EA9FCF31E00}">
          <p14:sldIdLst>
            <p14:sldId id="258"/>
            <p14:sldId id="259"/>
            <p14:sldId id="260"/>
            <p14:sldId id="261"/>
            <p14:sldId id="262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7" autoAdjust="0"/>
    <p:restoredTop sz="94660"/>
  </p:normalViewPr>
  <p:slideViewPr>
    <p:cSldViewPr>
      <p:cViewPr varScale="1">
        <p:scale>
          <a:sx n="92" d="100"/>
          <a:sy n="92" d="100"/>
        </p:scale>
        <p:origin x="-620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2286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88595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4793743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114550"/>
            <a:ext cx="6400800" cy="131445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1815084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14300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1586484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1657350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1649588"/>
            <a:ext cx="457200" cy="330994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285750"/>
            <a:ext cx="7772400" cy="131445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769779"/>
            <a:ext cx="457200" cy="330994"/>
          </a:xfrm>
        </p:spPr>
        <p:txBody>
          <a:bodyPr/>
          <a:lstStyle/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145286"/>
            <a:ext cx="8503920" cy="3429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4288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1714500"/>
            <a:ext cx="8833104" cy="228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06764"/>
            <a:ext cx="8833104" cy="160477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057400"/>
            <a:ext cx="6480174" cy="1254919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4793743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14300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18288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1586484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1657350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1649588"/>
            <a:ext cx="457200" cy="330994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00050"/>
            <a:ext cx="7772400" cy="1143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71450"/>
            <a:ext cx="8534400" cy="569214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4807458"/>
            <a:ext cx="3044952" cy="274320"/>
          </a:xfrm>
        </p:spPr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1" y="1181739"/>
            <a:ext cx="8921" cy="361466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028700"/>
            <a:ext cx="4038600" cy="3511296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028700"/>
            <a:ext cx="4038600" cy="3511296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1650206"/>
            <a:ext cx="0" cy="3140964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08585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028700"/>
            <a:ext cx="8833104" cy="6858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4793742"/>
            <a:ext cx="8833104" cy="233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143000"/>
            <a:ext cx="4040188" cy="549731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1" y="1143000"/>
            <a:ext cx="4041775" cy="54864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4807458"/>
            <a:ext cx="3581400" cy="27432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96012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16586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1853537"/>
            <a:ext cx="4041648" cy="2863803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1853537"/>
            <a:ext cx="4038600" cy="286664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717027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787893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781812"/>
            <a:ext cx="457200" cy="330994"/>
          </a:xfrm>
        </p:spPr>
        <p:txBody>
          <a:bodyPr/>
          <a:lstStyle>
            <a:lvl1pPr algn="ctr">
              <a:defRPr/>
            </a:lvl1pPr>
          </a:lstStyle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777015"/>
            <a:ext cx="457200" cy="330994"/>
          </a:xfrm>
        </p:spPr>
        <p:txBody>
          <a:bodyPr/>
          <a:lstStyle/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1658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4793743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18872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4743450"/>
            <a:ext cx="609600" cy="330993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14300"/>
            <a:ext cx="8833104" cy="2286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8915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457200"/>
            <a:ext cx="2743200" cy="440055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2362200" cy="74295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485901"/>
            <a:ext cx="2362200" cy="3108722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14300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40005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514350"/>
            <a:ext cx="5638800" cy="405765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171450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242316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234554"/>
            <a:ext cx="457200" cy="330994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4791289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4808136"/>
            <a:ext cx="3383280" cy="27432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40005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14300"/>
            <a:ext cx="8833104" cy="226314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457200"/>
            <a:ext cx="2743200" cy="440055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16586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171450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242316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234554"/>
            <a:ext cx="457200" cy="330994"/>
          </a:xfrm>
        </p:spPr>
        <p:txBody>
          <a:bodyPr/>
          <a:lstStyle/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3771900"/>
            <a:ext cx="5867400" cy="9144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457200"/>
            <a:ext cx="5867400" cy="32004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742950"/>
            <a:ext cx="2438400" cy="394335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4791289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4803738"/>
            <a:ext cx="3044952" cy="274320"/>
          </a:xfrm>
        </p:spPr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4808136"/>
            <a:ext cx="3584448" cy="27432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1658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4793743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16586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802505" y="2458593"/>
            <a:ext cx="468401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194322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2265188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2257426"/>
            <a:ext cx="457200" cy="330994"/>
          </a:xfrm>
        </p:spPr>
        <p:txBody>
          <a:bodyPr/>
          <a:lstStyle/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553200" cy="43660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228601"/>
            <a:ext cx="144780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5029200"/>
            <a:ext cx="9144000" cy="1143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9144000" cy="104502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51435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4791289"/>
            <a:ext cx="8833104" cy="23217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4803738"/>
            <a:ext cx="3044952" cy="274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11B0C7C-81C6-4876-B458-60DD082DBD9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4808136"/>
            <a:ext cx="3581400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16586"/>
            <a:ext cx="8833104" cy="4910328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957557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717027"/>
            <a:ext cx="609600" cy="4572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787893"/>
            <a:ext cx="420624" cy="31546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780131"/>
            <a:ext cx="457200" cy="330994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7BDF945-FA0F-46B1-B2AE-F4CF21252C6E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171450"/>
            <a:ext cx="8534400" cy="569214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143000"/>
            <a:ext cx="8534400" cy="344957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bg2">
                    <a:lumMod val="50000"/>
                  </a:schemeClr>
                </a:solidFill>
              </a:rPr>
              <a:t>Explainable Stock Recommendation System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with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Volatility Analysis, Forecasting, and Confidence-Interval-Based Suggestions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1403648" y="2643758"/>
            <a:ext cx="6480720" cy="165618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cap="none" spc="0" dirty="0" err="1" smtClean="0">
                <a:solidFill>
                  <a:schemeClr val="bg2">
                    <a:lumMod val="50000"/>
                  </a:schemeClr>
                </a:solidFill>
              </a:rPr>
              <a:t>Prashu</a:t>
            </a:r>
            <a:r>
              <a:rPr lang="en-US" b="1" cap="none" spc="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en-US" cap="none" spc="0" dirty="0" smtClean="0">
                <a:solidFill>
                  <a:schemeClr val="bg2">
                    <a:lumMod val="50000"/>
                  </a:schemeClr>
                </a:solidFill>
              </a:rPr>
              <a:t>Roll No. - 242123022</a:t>
            </a:r>
            <a:endParaRPr lang="en-US" b="1" cap="none" spc="0" dirty="0" smtClean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b="1" cap="none" spc="0" dirty="0" smtClean="0">
                <a:solidFill>
                  <a:schemeClr val="bg2">
                    <a:lumMod val="50000"/>
                  </a:schemeClr>
                </a:solidFill>
              </a:rPr>
              <a:t>M.Sc. Mathematics and computing</a:t>
            </a:r>
          </a:p>
          <a:p>
            <a:pPr algn="ctr"/>
            <a:r>
              <a:rPr lang="en-US" b="1" cap="none" spc="0" dirty="0" smtClean="0">
                <a:solidFill>
                  <a:schemeClr val="bg2">
                    <a:lumMod val="50000"/>
                  </a:schemeClr>
                </a:solidFill>
              </a:rPr>
              <a:t> IIT </a:t>
            </a:r>
            <a:r>
              <a:rPr lang="en-US" cap="none" spc="0" dirty="0">
                <a:solidFill>
                  <a:schemeClr val="bg2">
                    <a:lumMod val="50000"/>
                  </a:schemeClr>
                </a:solidFill>
              </a:rPr>
              <a:t>G</a:t>
            </a:r>
            <a:r>
              <a:rPr lang="en-US" b="1" cap="none" spc="0" dirty="0" smtClean="0">
                <a:solidFill>
                  <a:schemeClr val="bg2">
                    <a:lumMod val="50000"/>
                  </a:schemeClr>
                </a:solidFill>
              </a:rPr>
              <a:t>uwahati </a:t>
            </a:r>
          </a:p>
          <a:p>
            <a:pPr algn="ctr"/>
            <a:r>
              <a:rPr lang="en-US" cap="none" spc="0" dirty="0">
                <a:solidFill>
                  <a:schemeClr val="bg2">
                    <a:lumMod val="50000"/>
                  </a:schemeClr>
                </a:solidFill>
              </a:rPr>
              <a:t>p</a:t>
            </a:r>
            <a:r>
              <a:rPr lang="en-US" b="1" cap="none" spc="0" dirty="0" smtClean="0">
                <a:solidFill>
                  <a:schemeClr val="bg2">
                    <a:lumMod val="50000"/>
                  </a:schemeClr>
                </a:solidFill>
              </a:rPr>
              <a:t>rashu@iitg.ac.In</a:t>
            </a:r>
            <a:endParaRPr lang="en-IN" b="1" cap="none" spc="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96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Problem Statement</a:t>
            </a:r>
            <a:endParaRPr lang="en-IN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251520" y="1059582"/>
            <a:ext cx="8640960" cy="3672408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 smtClean="0">
                <a:solidFill>
                  <a:schemeClr val="bg2">
                    <a:lumMod val="50000"/>
                  </a:schemeClr>
                </a:solidFill>
              </a:rPr>
              <a:t>Problem Statement: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Retail investors face major challenges while selecting suitable stocks from thousands of available options. The key problems are:</a:t>
            </a:r>
          </a:p>
          <a:p>
            <a:r>
              <a:rPr lang="en-US" sz="1600" b="1" dirty="0" smtClean="0">
                <a:solidFill>
                  <a:schemeClr val="bg2">
                    <a:lumMod val="50000"/>
                  </a:schemeClr>
                </a:solidFill>
              </a:rPr>
              <a:t>1.] L</a:t>
            </a:r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ack of personalization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: Different investors have different</a:t>
            </a:r>
            <a:b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	• risk appetites (Conservative / Balanced / Aggressive)</a:t>
            </a:r>
            <a:b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	• sector interests</a:t>
            </a:r>
            <a:b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	• return expectations</a:t>
            </a:r>
          </a:p>
          <a:p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2.] Traditional recommender systems lack transparency: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   Investors don’t trust automated recommendations because they don’t understand the </a:t>
            </a:r>
            <a:r>
              <a:rPr lang="en-US" sz="1400" i="1" dirty="0" smtClean="0">
                <a:solidFill>
                  <a:schemeClr val="bg2">
                    <a:lumMod val="50000"/>
                  </a:schemeClr>
                </a:solidFill>
              </a:rPr>
              <a:t>reasoning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behind   them.</a:t>
            </a:r>
          </a:p>
          <a:p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3.] Forecast uncertainty is ignored: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      Systems typically show only point predictions without conveying volatility or </a:t>
            </a:r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confidence intervals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Therefore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:   We need a recommendation system that is</a:t>
            </a:r>
          </a:p>
          <a:p>
            <a:endParaRPr lang="en-US" sz="14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                                   </a:t>
            </a:r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personalized + forecast - driven + volatility - aware + explainable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0881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Datasets</a:t>
            </a:r>
            <a:endParaRPr lang="en-IN" b="1" dirty="0"/>
          </a:p>
        </p:txBody>
      </p:sp>
      <p:sp>
        <p:nvSpPr>
          <p:cNvPr id="6" name="Rectangle 5"/>
          <p:cNvSpPr/>
          <p:nvPr/>
        </p:nvSpPr>
        <p:spPr>
          <a:xfrm>
            <a:off x="251520" y="1131590"/>
            <a:ext cx="3456384" cy="3600400"/>
          </a:xfrm>
          <a:prstGeom prst="rect">
            <a:avLst/>
          </a:prstGeom>
          <a:ln w="12700">
            <a:solidFill>
              <a:schemeClr val="tx1"/>
            </a:solidFill>
            <a:prstDash val="sysDot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b="1" dirty="0" smtClean="0">
                <a:solidFill>
                  <a:schemeClr val="bg2">
                    <a:lumMod val="50000"/>
                  </a:schemeClr>
                </a:solidFill>
              </a:rPr>
              <a:t>Stock Price Data &amp; Company Fundamentals</a:t>
            </a:r>
            <a:endParaRPr lang="en-US" sz="1600" b="1" dirty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Stock price data fetched trough Yahoo Finance (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yfinance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), covering 60+ frequently traded NSE stocks across major Indian market sectors such as Information Technology, Financial Services, Health care, Consumer Goods, Manufacturing, and Energy.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&amp;</a:t>
            </a:r>
            <a:endParaRPr lang="en-US" sz="14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Multiple features were Extracted :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Daily and log returns 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Volatility 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Sharpe Ratio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CAGR (compounded annual growth rate)</a:t>
            </a:r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79912" y="1131590"/>
            <a:ext cx="5184576" cy="36160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ot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 smtClean="0">
                <a:solidFill>
                  <a:schemeClr val="bg2">
                    <a:lumMod val="50000"/>
                  </a:schemeClr>
                </a:solidFill>
              </a:rPr>
              <a:t>Companies Data</a:t>
            </a:r>
          </a:p>
          <a:p>
            <a:pPr algn="ctr"/>
            <a:endParaRPr lang="en-IN" sz="16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Key fundamental features were extracted using the Yahoo Finance ticker metadata: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Market capitalization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Beta (systematic risk)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Price-to-Earnings (P/E) ratio 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Dividend yield 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Profit margins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Return on Equity (ROE) and Return on Assets (ROA)</a:t>
            </a:r>
          </a:p>
          <a:p>
            <a:endParaRPr lang="en-US" sz="1400" b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37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1800" b="1" dirty="0" smtClean="0">
                <a:solidFill>
                  <a:schemeClr val="bg2">
                    <a:lumMod val="50000"/>
                  </a:schemeClr>
                </a:solidFill>
              </a:rPr>
              <a:t>User Modeling And Synthetic Investment Data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51520" y="1131590"/>
                <a:ext cx="8640960" cy="36004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Since real user investment portfolios are unavailable due to privacy restrictions, synthetic user data was generated to evaluate the system in a realistic manner. </a:t>
                </a:r>
              </a:p>
              <a:p>
                <a:endParaRPr lang="en-US" sz="1400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A.] Risk Profiles</a:t>
                </a:r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 :Each user is assigned a risk tolerance level:</a:t>
                </a: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 • Conservative (40%)– low volatility, stable returns</a:t>
                </a: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 • Balanced (40%)– diversified with moderate volatility </a:t>
                </a: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 • Aggressive (20%)– high volatility, high growth </a:t>
                </a:r>
              </a:p>
              <a:p>
                <a:endParaRPr lang="en-US" sz="1400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Each simulated investor selects one or two preferred sectors from the available list, enabling realistic domain affinity and diversification.</a:t>
                </a: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For a given stock i and user u, an investment likelihood score is computed as: </a:t>
                </a:r>
              </a:p>
              <a:p>
                <a:endParaRPr lang="en-US" sz="1400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sz="1400" dirty="0">
                    <a:solidFill>
                      <a:schemeClr val="bg2">
                        <a:lumMod val="50000"/>
                      </a:schemeClr>
                    </a:solidFill>
                  </a:rPr>
                  <a:t>	</a:t>
                </a:r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	</a:t>
                </a:r>
                <a:r>
                  <a:rPr lang="en-US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P(</a:t>
                </a:r>
                <a:r>
                  <a:rPr lang="en-US" sz="1400" b="1" dirty="0" err="1" smtClean="0">
                    <a:solidFill>
                      <a:schemeClr val="bg2">
                        <a:lumMod val="50000"/>
                      </a:schemeClr>
                    </a:solidFill>
                  </a:rPr>
                  <a:t>i|u</a:t>
                </a:r>
                <a:r>
                  <a:rPr lang="en-US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) = 0.2 + f(sector match, risk, volatility, return)</a:t>
                </a:r>
              </a:p>
              <a:p>
                <a:endParaRPr lang="en-US" sz="1400" b="1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The final probability is clipped to [0,1] and top-k stocks are selected for each user (3 ≤ k ≤ 10). </a:t>
                </a: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Resulting interaction matrix is: </a:t>
                </a:r>
                <a:r>
                  <a:rPr lang="en-US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U 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</a:rPr>
                          <m:t>{0,1}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𝟏𝟎𝟎𝟎</m:t>
                        </m:r>
                        <m:r>
                          <a:rPr lang="en-US" sz="1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× </m:t>
                        </m:r>
                        <m:r>
                          <a:rPr lang="en-US" sz="1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𝟔𝟎</m:t>
                        </m:r>
                      </m:sup>
                    </m:sSup>
                  </m:oMath>
                </a14:m>
                <a:endParaRPr lang="en-US" sz="1400" b="1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131590"/>
                <a:ext cx="8640960" cy="36004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525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N" sz="2000" b="1" dirty="0" smtClean="0"/>
              <a:t>Forecasting Pipeline</a:t>
            </a:r>
            <a:endParaRPr lang="en-IN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179512" y="1059582"/>
            <a:ext cx="4248472" cy="1512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ARIMA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We fit an ARIMA(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p,d,q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) model to the stationary log-return series of each stock. A grid search 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isperformed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over: </a:t>
            </a:r>
          </a:p>
          <a:p>
            <a:pPr algn="ctr"/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p ∈{0,1,2,3}, d ∈ {0,1,2}, q ∈ {0,1,2,3},</a:t>
            </a:r>
            <a:endParaRPr lang="en-IN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3405" y="2643757"/>
            <a:ext cx="4248472" cy="20790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600" b="1" dirty="0" smtClean="0">
                <a:solidFill>
                  <a:schemeClr val="bg2">
                    <a:lumMod val="50000"/>
                  </a:schemeClr>
                </a:solidFill>
              </a:rPr>
              <a:t>LSTM-based Nonlinear Forecasting</a:t>
            </a:r>
          </a:p>
          <a:p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build an LSTM regression model using the </a:t>
            </a:r>
            <a:r>
              <a:rPr lang="en-IN" sz="1200" dirty="0" err="1" smtClean="0">
                <a:solidFill>
                  <a:schemeClr val="bg2">
                    <a:lumMod val="50000"/>
                  </a:schemeClr>
                </a:solidFill>
              </a:rPr>
              <a:t>Keras</a:t>
            </a:r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 Functional API. Input features are multi-horizon differenced log-returns: </a:t>
            </a:r>
          </a:p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                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r(k) t =log(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Pt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) −log(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Pt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−k), k ∈ {5,15,30,60}</a:t>
            </a:r>
          </a:p>
          <a:p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The architecture is tuned via grid search: </a:t>
            </a:r>
          </a:p>
          <a:p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• Units: {64,86,128} </a:t>
            </a:r>
          </a:p>
          <a:p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• Dropout: {0.1,0.2} </a:t>
            </a:r>
          </a:p>
          <a:p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• Epochs: 50–100 </a:t>
            </a:r>
          </a:p>
          <a:p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• Batch size: 16</a:t>
            </a:r>
            <a:endParaRPr lang="en-IN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16016" y="1070054"/>
            <a:ext cx="4248472" cy="365272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Residual Diagnostics and GARCH Enhancement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ARIMA/LSTM capture the mean structure but not the volatility structure. Residuals may contain the remaining 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heteroscedastic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behavior, to check that we includes: </a:t>
            </a:r>
          </a:p>
          <a:p>
            <a:endParaRPr lang="en-US" sz="14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Ljung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–Box:  autocorrelation 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Engle ARCH:  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heteroskedasticity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endParaRPr lang="en-US" sz="14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If ARCH effect exists (p &lt; </a:t>
            </a:r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0.05), GARCH(1,1) is fitted.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And Confidence Interval predicted using this with Predictions. </a:t>
            </a:r>
            <a:endParaRPr lang="en-IN" sz="1400" dirty="0" smtClean="0">
              <a:solidFill>
                <a:schemeClr val="bg2">
                  <a:lumMod val="50000"/>
                </a:schemeClr>
              </a:solidFill>
            </a:endParaRPr>
          </a:p>
          <a:p>
            <a:endParaRPr lang="en-IN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955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2000" b="1" dirty="0" smtClean="0"/>
              <a:t>Ensemble Model And </a:t>
            </a:r>
            <a:r>
              <a:rPr lang="en-IN" sz="2000" b="1" dirty="0"/>
              <a:t>Evaluation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251520" y="1059582"/>
                <a:ext cx="4248472" cy="27363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• RMSE </a:t>
                </a:r>
              </a:p>
              <a:p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• MAPE </a:t>
                </a:r>
              </a:p>
              <a:p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• Residual Standard Deviation</a:t>
                </a:r>
              </a:p>
              <a:p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• Confidence Interval Coverage (CIC)</a:t>
                </a:r>
              </a:p>
              <a:p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• </a:t>
                </a:r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Reliability Score:  </a:t>
                </a:r>
                <a:r>
                  <a:rPr lang="en-IN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A composite reliability score is computed to combine accuracy and calibration: </a:t>
                </a:r>
              </a:p>
              <a:p>
                <a:endParaRPr lang="en-IN" sz="1400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Score = w1· RMSE+</a:t>
                </a:r>
                <a:r>
                  <a:rPr lang="el-GR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ϵ+</a:t>
                </a:r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w2·MAPE+ </a:t>
                </a:r>
                <a:r>
                  <a:rPr lang="el-GR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ϵ+</a:t>
                </a:r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w3·CIC +w4·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1400" b="1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IN" sz="1400" b="1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𝟏</m:t>
                        </m:r>
                        <m:r>
                          <a:rPr lang="en-IN" sz="1400" b="1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 + </m:t>
                        </m:r>
                        <m:r>
                          <a:rPr lang="el-GR" sz="1400" b="1" i="0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𝛔𝛜</m:t>
                        </m:r>
                      </m:den>
                    </m:f>
                  </m:oMath>
                </a14:m>
                <a:endParaRPr lang="en-US" sz="1400" b="1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endParaRPr lang="en-US" sz="1400" b="1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IN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Default weights used are w1 = 0.3,w2 = 0.2,w3 = 0.4,w4 = 0.1 and small </a:t>
                </a:r>
                <a:r>
                  <a:rPr lang="el-GR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ϵ </a:t>
                </a:r>
                <a:r>
                  <a:rPr lang="en-IN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for numerical stability.</a:t>
                </a:r>
                <a:endParaRPr lang="en-IN" sz="14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9582"/>
                <a:ext cx="4248472" cy="273630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4716016" y="1059582"/>
                <a:ext cx="4248472" cy="27363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Ensemble Forecasting Model</a:t>
                </a: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To jointly leverage:</a:t>
                </a: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 • Linear pattern learning from ARIMA–GARCH</a:t>
                </a: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 • Nonlinear learning from LSTM–GARCH </a:t>
                </a: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we create a reliability-weighted ensemble. </a:t>
                </a:r>
                <a:r>
                  <a:rPr lang="en-US" sz="1400" dirty="0" err="1" smtClean="0">
                    <a:solidFill>
                      <a:schemeClr val="bg2">
                        <a:lumMod val="50000"/>
                      </a:schemeClr>
                    </a:solidFill>
                  </a:rPr>
                  <a:t>Softmax</a:t>
                </a:r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 normalization of model reliability scores determines fusion weights:</a:t>
                </a:r>
              </a:p>
              <a:p>
                <a:endParaRPr lang="en-US" sz="1400" b="1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IN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   </a:t>
                </a:r>
                <a:r>
                  <a:rPr lang="en-IN" sz="12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W(i)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1400" b="1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1400" b="1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𝒆</m:t>
                            </m:r>
                          </m:e>
                          <m:sup>
                            <m:r>
                              <a:rPr lang="en-US" sz="1400" b="1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𝒔𝒄𝒐𝒓𝒆</m:t>
                            </m:r>
                          </m:sup>
                        </m:sSup>
                        <m: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IN" sz="1400" b="1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1400" b="1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IN" sz="1400" b="1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1400" b="1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e>
                              <m:sup>
                                <m:r>
                                  <a:rPr lang="en-US" sz="1400" b="1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𝒔𝒄𝒐𝒓𝒆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𝒋</m:t>
                                </m:r>
                                <m:r>
                                  <a:rPr lang="en-US" sz="1400" b="1" i="1" smtClean="0">
                                    <a:solidFill>
                                      <a:schemeClr val="bg2">
                                        <a:lumMod val="50000"/>
                                      </a:schemeClr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sz="1400" b="1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r>
                  <a:rPr lang="en-US" sz="1400" dirty="0" smtClean="0">
                    <a:solidFill>
                      <a:schemeClr val="bg2">
                        <a:lumMod val="50000"/>
                      </a:schemeClr>
                    </a:solidFill>
                  </a:rPr>
                  <a:t>Final ensemble predictions are computed as:</a:t>
                </a:r>
              </a:p>
              <a:p>
                <a:pPr algn="ctr"/>
                <a:r>
                  <a:rPr lang="en-US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Y(</a:t>
                </a:r>
                <a:r>
                  <a:rPr lang="en-US" sz="1400" b="1" dirty="0" err="1" smtClean="0">
                    <a:solidFill>
                      <a:schemeClr val="bg2">
                        <a:lumMod val="50000"/>
                      </a:schemeClr>
                    </a:solidFill>
                  </a:rPr>
                  <a:t>ens</a:t>
                </a:r>
                <a:r>
                  <a:rPr lang="en-US" sz="1400" b="1" dirty="0" smtClean="0">
                    <a:solidFill>
                      <a:schemeClr val="bg2">
                        <a:lumMod val="50000"/>
                      </a:schemeClr>
                    </a:solidFill>
                  </a:rPr>
                  <a:t>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𝒊</m:t>
                        </m:r>
                      </m:sub>
                      <m:sup/>
                      <m:e>
                        <m: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𝒘</m:t>
                        </m:r>
                        <m:d>
                          <m:dPr>
                            <m:ctrlPr>
                              <a:rPr lang="en-US" sz="1400" b="1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400" b="1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/>
                              </a:rPr>
                              <m:t>𝒊</m:t>
                            </m:r>
                          </m:e>
                        </m:d>
                        <m: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𝒚𝒉𝒂𝒕</m:t>
                        </m:r>
                        <m: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14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sz="1400" b="1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ctr"/>
                <a:endParaRPr lang="en-IN" sz="1200" b="1" dirty="0" smtClean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059582"/>
                <a:ext cx="4248472" cy="273630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51520" y="3867894"/>
            <a:ext cx="8712968" cy="7920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Model Selection and Export:  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The model with highest Reliability Score per stock is saved for: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Live prediction          • Recommendation ranking 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Streamlit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visualization                                                           Metadata is serialized to datasets/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models_data.pkl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IN" sz="1800" b="1" dirty="0" smtClean="0">
                <a:solidFill>
                  <a:schemeClr val="bg2">
                    <a:lumMod val="50000"/>
                  </a:schemeClr>
                </a:solidFill>
              </a:rPr>
              <a:t>Hybrid Explainable Recommendation Engine</a:t>
            </a:r>
            <a:endParaRPr lang="en-IN" sz="1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9512" y="1045922"/>
            <a:ext cx="4320480" cy="367240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600" b="1" dirty="0" smtClean="0">
                <a:solidFill>
                  <a:schemeClr val="bg2">
                    <a:lumMod val="50000"/>
                  </a:schemeClr>
                </a:solidFill>
              </a:rPr>
              <a:t>Content-Based Filtering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Content-based filtering recommends stocks with similar f 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inancial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sz="1400" dirty="0" err="1" smtClean="0">
                <a:solidFill>
                  <a:schemeClr val="bg2">
                    <a:lumMod val="50000"/>
                  </a:schemeClr>
                </a:solidFill>
              </a:rPr>
              <a:t>sectoral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, and risk characteristics to those already in the user portfolio.</a:t>
            </a:r>
          </a:p>
          <a:p>
            <a:r>
              <a:rPr lang="en-IN" sz="1400" b="1" dirty="0" smtClean="0">
                <a:solidFill>
                  <a:schemeClr val="bg2">
                    <a:lumMod val="50000"/>
                  </a:schemeClr>
                </a:solidFill>
              </a:rPr>
              <a:t>Feature Space Design: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To generate meaningful stock similarity and recommendations, following comprehensive set of features is used to construct the similarity vector:</a:t>
            </a:r>
          </a:p>
          <a:p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marketCap</a:t>
            </a:r>
            <a:r>
              <a:rPr lang="en-US" sz="1200" b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                    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returnOnEquity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(ROE)</a:t>
            </a:r>
          </a:p>
          <a:p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returnOnAssets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             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debtToEquity</a:t>
            </a:r>
            <a:endParaRPr lang="en-IN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profitMargins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grossMargins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ebitdaMargins</a:t>
            </a:r>
            <a:endParaRPr lang="en-IN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beta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	          • 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CAGR   	• Volatility </a:t>
            </a:r>
            <a:endParaRPr lang="en-IN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auditRisk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boardRisk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compensationRisk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shareHold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erRightsRisk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overallRisk</a:t>
            </a:r>
            <a:endParaRPr lang="en-IN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• Mean Return                    • Sharpe Ratio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Sector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• 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Industry</a:t>
            </a:r>
            <a:endParaRPr lang="en-IN" sz="1200" b="1" dirty="0" smtClean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34020" y="1045922"/>
            <a:ext cx="4320480" cy="8057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400" b="1" dirty="0" smtClean="0">
                <a:solidFill>
                  <a:schemeClr val="bg2">
                    <a:lumMod val="50000"/>
                  </a:schemeClr>
                </a:solidFill>
              </a:rPr>
              <a:t>Collaborative Filtering</a:t>
            </a: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User-stock binary interaction matrix supports item-item similarity-based collaborative filtering</a:t>
            </a:r>
            <a:endParaRPr lang="en-IN" sz="1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34020" y="1923678"/>
            <a:ext cx="4320480" cy="27946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smtClean="0">
                <a:solidFill>
                  <a:schemeClr val="bg2">
                    <a:lumMod val="50000"/>
                  </a:schemeClr>
                </a:solidFill>
              </a:rPr>
              <a:t>Risk-Adjusted Forecast Ranking</a:t>
            </a:r>
          </a:p>
          <a:p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Ensure personalized investment suitability, each stock is ranked using a scoring function integrating forecasts and volatility. The score blends predicted mean returns and CI bounds with volatility and user risk profile. </a:t>
            </a: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Scoring Logic</a:t>
            </a:r>
          </a:p>
          <a:p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Conservative: </a:t>
            </a:r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prioritize downside protection </a:t>
            </a:r>
          </a:p>
          <a:p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Pred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Scorei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= 0.5 ˆ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Ri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+0.35 ˆLi +0.15 ˆ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Ui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·(1−Vi) </a:t>
            </a:r>
          </a:p>
          <a:p>
            <a:endParaRPr lang="en-IN" sz="12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Balanced</a:t>
            </a:r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: prefer moderate volatility </a:t>
            </a:r>
          </a:p>
          <a:p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Pred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Scorei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=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Pred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Scorei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·(1−|Vi −0.5|) </a:t>
            </a:r>
          </a:p>
          <a:p>
            <a:endParaRPr lang="en-IN" sz="12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• Aggressive</a:t>
            </a:r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: reward growth potential and volatility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Pred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Scorei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= 0.5 ˆ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Ri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+0.15 ˆLi +0.35 ˆ</a:t>
            </a:r>
            <a:r>
              <a:rPr lang="en-IN" sz="1200" b="1" dirty="0" err="1" smtClean="0">
                <a:solidFill>
                  <a:schemeClr val="bg2">
                    <a:lumMod val="50000"/>
                  </a:schemeClr>
                </a:solidFill>
              </a:rPr>
              <a:t>Ui</a:t>
            </a:r>
            <a:r>
              <a:rPr lang="en-IN" sz="1200" b="1" dirty="0" smtClean="0">
                <a:solidFill>
                  <a:schemeClr val="bg2">
                    <a:lumMod val="50000"/>
                  </a:schemeClr>
                </a:solidFill>
              </a:rPr>
              <a:t> ·Vi</a:t>
            </a:r>
            <a:endParaRPr lang="en-IN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53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2000" b="1" dirty="0" smtClean="0"/>
              <a:t>Final Recommendations</a:t>
            </a:r>
            <a:endParaRPr lang="en-IN" sz="2000" b="1" dirty="0"/>
          </a:p>
        </p:txBody>
      </p:sp>
      <p:sp>
        <p:nvSpPr>
          <p:cNvPr id="3" name="Rectangle 2"/>
          <p:cNvSpPr/>
          <p:nvPr/>
        </p:nvSpPr>
        <p:spPr>
          <a:xfrm>
            <a:off x="251520" y="1059768"/>
            <a:ext cx="4176464" cy="367240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600" b="1" dirty="0">
                <a:solidFill>
                  <a:schemeClr val="bg2">
                    <a:lumMod val="50000"/>
                  </a:schemeClr>
                </a:solidFill>
              </a:rPr>
              <a:t>Hybrid Recommendation </a:t>
            </a:r>
            <a:r>
              <a:rPr lang="en-IN" sz="1600" b="1" dirty="0" smtClean="0">
                <a:solidFill>
                  <a:schemeClr val="bg2">
                    <a:lumMod val="50000"/>
                  </a:schemeClr>
                </a:solidFill>
              </a:rPr>
              <a:t>Pipeline</a:t>
            </a:r>
          </a:p>
          <a:p>
            <a:pPr algn="ctr"/>
            <a:endParaRPr lang="en-IN" sz="16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400" dirty="0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ntegrates </a:t>
            </a:r>
            <a:r>
              <a:rPr lang="en-IN" sz="1400" dirty="0">
                <a:solidFill>
                  <a:schemeClr val="bg2">
                    <a:lumMod val="50000"/>
                  </a:schemeClr>
                </a:solidFill>
              </a:rPr>
              <a:t>all parts into one recommendation flow</a:t>
            </a:r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IN" sz="1400" b="1" dirty="0">
                <a:solidFill>
                  <a:schemeClr val="bg2">
                    <a:lumMod val="50000"/>
                  </a:schemeClr>
                </a:solidFill>
              </a:rPr>
              <a:t>Content-based candidates</a:t>
            </a:r>
            <a:r>
              <a:rPr lang="en-IN" sz="1400" dirty="0">
                <a:solidFill>
                  <a:schemeClr val="bg2">
                    <a:lumMod val="50000"/>
                  </a:schemeClr>
                </a:solidFill>
              </a:rPr>
              <a:t> → find similar stocks</a:t>
            </a:r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lvl="0"/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IN" sz="1400" b="1" dirty="0">
                <a:solidFill>
                  <a:schemeClr val="bg2">
                    <a:lumMod val="50000"/>
                  </a:schemeClr>
                </a:solidFill>
              </a:rPr>
              <a:t>Collaborative filtering candidates</a:t>
            </a:r>
            <a:r>
              <a:rPr lang="en-IN" sz="1400" dirty="0">
                <a:solidFill>
                  <a:schemeClr val="bg2">
                    <a:lumMod val="50000"/>
                  </a:schemeClr>
                </a:solidFill>
              </a:rPr>
              <a:t> → find </a:t>
            </a:r>
            <a:r>
              <a:rPr lang="en-IN" sz="1400" dirty="0" err="1">
                <a:solidFill>
                  <a:schemeClr val="bg2">
                    <a:lumMod val="50000"/>
                  </a:schemeClr>
                </a:solidFill>
              </a:rPr>
              <a:t>behaviorally</a:t>
            </a:r>
            <a:r>
              <a:rPr lang="en-IN" sz="1400" dirty="0">
                <a:solidFill>
                  <a:schemeClr val="bg2">
                    <a:lumMod val="50000"/>
                  </a:schemeClr>
                </a:solidFill>
              </a:rPr>
              <a:t> similar stocks</a:t>
            </a:r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lvl="0"/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IN" sz="1400" b="1" dirty="0">
                <a:solidFill>
                  <a:schemeClr val="bg2">
                    <a:lumMod val="50000"/>
                  </a:schemeClr>
                </a:solidFill>
              </a:rPr>
              <a:t>Merge both candidate sets</a:t>
            </a:r>
            <a:r>
              <a:rPr lang="en-IN" sz="1400" b="1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lvl="0"/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IN" sz="1400" b="1" dirty="0">
                <a:solidFill>
                  <a:schemeClr val="bg2">
                    <a:lumMod val="50000"/>
                  </a:schemeClr>
                </a:solidFill>
              </a:rPr>
              <a:t>Rank</a:t>
            </a:r>
            <a:r>
              <a:rPr lang="en-IN" sz="1400" dirty="0">
                <a:solidFill>
                  <a:schemeClr val="bg2">
                    <a:lumMod val="50000"/>
                  </a:schemeClr>
                </a:solidFill>
              </a:rPr>
              <a:t> them using predicted performance and risk adjustment</a:t>
            </a:r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lvl="0"/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400" b="1" dirty="0">
                <a:solidFill>
                  <a:schemeClr val="bg2">
                    <a:lumMod val="50000"/>
                  </a:schemeClr>
                </a:solidFill>
              </a:rPr>
              <a:t>Return top recommendations</a:t>
            </a:r>
            <a:endParaRPr lang="en-IN" sz="14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16016" y="1059768"/>
            <a:ext cx="4176464" cy="367240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IN" sz="1600" b="1" dirty="0" smtClean="0">
                <a:solidFill>
                  <a:schemeClr val="bg2">
                    <a:lumMod val="50000"/>
                  </a:schemeClr>
                </a:solidFill>
              </a:rPr>
              <a:t>Cold-Start Handling</a:t>
            </a:r>
          </a:p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If a user has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not previously invested in any stocks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, the model ranks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all available stocks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according to the user’s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selected risk profile</a:t>
            </a:r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endParaRPr lang="en-IN" sz="1200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If the user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does not select any risk profile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, the system automatically defaults to the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Balanced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profile</a:t>
            </a:r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lvl="0"/>
            <a:endParaRPr lang="en-IN" sz="1200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This approach effectively addresses the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cold-start problem for new users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, ensuring that even without historical data, the user receives personalized recommendations based on risk preference</a:t>
            </a:r>
            <a:r>
              <a:rPr lang="en-IN" sz="12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lvl="0"/>
            <a:endParaRPr lang="en-IN" sz="12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Similarly, for a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newly listed company or stock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(with limited user interaction data), the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</a:rPr>
              <a:t>content-based filtering module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 handles the cold-start issue by recommending it to users with similar feature-based preferences.</a:t>
            </a:r>
            <a:endParaRPr lang="en-IN" sz="1200" b="1" dirty="0" smtClean="0">
              <a:solidFill>
                <a:schemeClr val="bg2">
                  <a:lumMod val="50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6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Results</a:t>
            </a:r>
            <a:endParaRPr lang="en-IN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323528" y="1131590"/>
            <a:ext cx="8496944" cy="367240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30044"/>
              </p:ext>
            </p:extLst>
          </p:nvPr>
        </p:nvGraphicFramePr>
        <p:xfrm>
          <a:off x="395536" y="1203597"/>
          <a:ext cx="5556448" cy="3528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932"/>
                <a:gridCol w="3292516"/>
              </a:tblGrid>
              <a:tr h="407122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Outcomes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Observation</a:t>
                      </a:r>
                      <a:endParaRPr lang="en-IN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76756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Forecasting Stability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Ensemble improved RMSE &amp; CI coverage</a:t>
                      </a:r>
                      <a:endParaRPr lang="en-IN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76756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Personalization Quality</a:t>
                      </a:r>
                      <a:endParaRPr lang="en-IN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Aggressive </a:t>
                      </a:r>
                      <a:r>
                        <a:rPr lang="en-IN" sz="1400" dirty="0" err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vs</a:t>
                      </a:r>
                      <a:r>
                        <a:rPr lang="en-IN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Conservative users received different recommendations</a:t>
                      </a:r>
                      <a:endParaRPr lang="en-IN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76756">
                <a:tc>
                  <a:txBody>
                    <a:bodyPr/>
                    <a:lstStyle/>
                    <a:p>
                      <a:r>
                        <a:rPr lang="en-IN" sz="1400" dirty="0" err="1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Explainability</a:t>
                      </a:r>
                      <a:endParaRPr lang="en-IN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Visual charts and future metrics increased trust &amp; interpretability</a:t>
                      </a:r>
                      <a:endParaRPr lang="en-IN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76756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Latency</a:t>
                      </a:r>
                      <a:endParaRPr lang="en-IN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Near real-time performance due to caching</a:t>
                      </a:r>
                      <a:endParaRPr lang="en-IN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814245"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Cold Start Handling</a:t>
                      </a:r>
                      <a:endParaRPr lang="en-IN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Content-based and balanced</a:t>
                      </a:r>
                      <a:r>
                        <a:rPr lang="en-IN" sz="1400" baseline="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profile recommendations </a:t>
                      </a:r>
                      <a:r>
                        <a:rPr lang="en-IN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worked successfully</a:t>
                      </a:r>
                      <a:endParaRPr lang="en-IN" sz="14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012160" y="1215736"/>
            <a:ext cx="2664296" cy="35283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Visual insight:</a:t>
            </a:r>
          </a:p>
          <a:p>
            <a:endParaRPr lang="en-US" sz="14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Radar chart 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→ summaries of risk-return fitness</a:t>
            </a:r>
          </a:p>
          <a:p>
            <a:endParaRPr lang="en-US" sz="14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Volatility </a:t>
            </a:r>
            <a:r>
              <a:rPr lang="en-US" sz="1200" b="1" dirty="0" err="1" smtClean="0">
                <a:solidFill>
                  <a:schemeClr val="bg2">
                    <a:lumMod val="50000"/>
                  </a:schemeClr>
                </a:solidFill>
              </a:rPr>
              <a:t>vs</a:t>
            </a:r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 CAGR 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→ quadrant-based decision support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Users receive </a:t>
            </a:r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not just which stocks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 but </a:t>
            </a:r>
            <a:r>
              <a:rPr lang="en-US" sz="1400" b="1" dirty="0" smtClean="0">
                <a:solidFill>
                  <a:schemeClr val="bg2">
                    <a:lumMod val="50000"/>
                  </a:schemeClr>
                </a:solidFill>
              </a:rPr>
              <a:t>why they are recommended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200" b="1" dirty="0" smtClean="0">
                <a:solidFill>
                  <a:schemeClr val="bg2">
                    <a:lumMod val="50000"/>
                  </a:schemeClr>
                </a:solidFill>
              </a:rPr>
              <a:t>Confidence Interval influence in ranking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— </a:t>
            </a:r>
            <a:r>
              <a:rPr lang="en-US" sz="1400" dirty="0" smtClean="0">
                <a:solidFill>
                  <a:schemeClr val="bg2">
                    <a:lumMod val="50000"/>
                  </a:schemeClr>
                </a:solidFill>
              </a:rPr>
              <a:t>improves risk-adjusted suggestions.</a:t>
            </a:r>
          </a:p>
          <a:p>
            <a:endParaRPr 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14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/>
              <a:t>Conclusion</a:t>
            </a:r>
            <a:endParaRPr lang="en-IN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395536" y="1203598"/>
            <a:ext cx="8208912" cy="3240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This project successfully demonstrates an explainable AI based stock recommendation system that integrates: </a:t>
            </a:r>
          </a:p>
          <a:p>
            <a:endParaRPr lang="en-US" sz="16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• Hybrid forecasting using ARIMA-LSTM-GARCH ensemble models </a:t>
            </a:r>
          </a:p>
          <a:p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• Personalized recommendations based on user risk profiles </a:t>
            </a:r>
          </a:p>
          <a:p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• Interactive visual analytics for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</a:rPr>
              <a:t>explainability</a:t>
            </a:r>
            <a:endParaRPr lang="en-US" sz="1600" dirty="0" smtClean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 • Real-time system response through </a:t>
            </a:r>
            <a:r>
              <a:rPr lang="en-US" sz="1600" dirty="0" err="1" smtClean="0">
                <a:solidFill>
                  <a:schemeClr val="bg2">
                    <a:lumMod val="50000"/>
                  </a:schemeClr>
                </a:solidFill>
              </a:rPr>
              <a:t>precomputed</a:t>
            </a:r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 metrics </a:t>
            </a:r>
          </a:p>
          <a:p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bg2">
                    <a:lumMod val="50000"/>
                  </a:schemeClr>
                </a:solidFill>
              </a:rPr>
              <a:t>The system effectively bridges the gap between advanced predictive modeling and transparent investment guidance. By incorporating volatility-aware forecasting and confidence interval-based ranking, the proposed solution enhances user trust and informed decision-making in retail finance.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2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215</TotalTime>
  <Words>1156</Words>
  <Application>Microsoft Office PowerPoint</Application>
  <PresentationFormat>On-screen Show (16:9)</PresentationFormat>
  <Paragraphs>168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Civic</vt:lpstr>
      <vt:lpstr>Explainable Stock Recommendation System  with Volatility Analysis, Forecasting, and Confidence-Interval-Based Suggestions</vt:lpstr>
      <vt:lpstr>Problem Statement</vt:lpstr>
      <vt:lpstr>Datasets</vt:lpstr>
      <vt:lpstr>User Modeling And Synthetic Investment Data</vt:lpstr>
      <vt:lpstr>Forecasting Pipeline</vt:lpstr>
      <vt:lpstr>Ensemble Model And Evaluation Metrics</vt:lpstr>
      <vt:lpstr>Hybrid Explainable Recommendation Engine</vt:lpstr>
      <vt:lpstr>Final Recommendations</vt:lpstr>
      <vt:lpstr>Results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Stock Recommendation System</dc:title>
  <dc:creator>prashu</dc:creator>
  <cp:lastModifiedBy>prashu</cp:lastModifiedBy>
  <cp:revision>20</cp:revision>
  <dcterms:created xsi:type="dcterms:W3CDTF">2025-11-25T12:03:36Z</dcterms:created>
  <dcterms:modified xsi:type="dcterms:W3CDTF">2025-11-25T15:38:56Z</dcterms:modified>
</cp:coreProperties>
</file>